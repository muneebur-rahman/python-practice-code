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handoutMasterIdLst>
    <p:handoutMasterId r:id="rId13"/>
  </p:handoutMasterIdLst>
  <p:sldIdLst>
    <p:sldId id="256" r:id="rId5"/>
    <p:sldId id="257" r:id="rId6"/>
    <p:sldId id="260" r:id="rId7"/>
    <p:sldId id="262" r:id="rId8"/>
    <p:sldId id="258" r:id="rId9"/>
    <p:sldId id="261"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278411" y="2668555"/>
            <a:ext cx="8703720" cy="1819470"/>
          </a:xfrm>
        </p:spPr>
        <p:txBody>
          <a:bodyPr/>
          <a:lstStyle/>
          <a:p>
            <a:r>
              <a:rPr lang="en-IN" sz="4800" dirty="0">
                <a:solidFill>
                  <a:schemeClr val="bg1"/>
                </a:solidFill>
                <a:latin typeface="Times New Roman" panose="02020603050405020304" pitchFamily="18" charset="0"/>
                <a:cs typeface="Times New Roman" panose="02020603050405020304" pitchFamily="18" charset="0"/>
              </a:rPr>
              <a:t>Real time Leaderboard System</a:t>
            </a:r>
            <a:br>
              <a:rPr lang="en-IN" dirty="0"/>
            </a:br>
            <a:endParaRPr lang="en-US" sz="6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278411" y="3880228"/>
            <a:ext cx="7865706" cy="868680"/>
          </a:xfrm>
        </p:spPr>
        <p:txBody>
          <a:bodyPr/>
          <a:lstStyle/>
          <a:p>
            <a:r>
              <a:rPr lang="en-US" dirty="0">
                <a:solidFill>
                  <a:srgbClr val="00B050"/>
                </a:solidFill>
                <a:latin typeface="Times New Roman" panose="02020603050405020304" pitchFamily="18" charset="0"/>
                <a:cs typeface="Times New Roman" panose="02020603050405020304" pitchFamily="18" charset="0"/>
              </a:rPr>
              <a:t>A Real-Time Leaderboard System dynamically ranks users instantly based on their updated scores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7" name="Rectangle 1">
            <a:extLst>
              <a:ext uri="{FF2B5EF4-FFF2-40B4-BE49-F238E27FC236}">
                <a16:creationId xmlns:a16="http://schemas.microsoft.com/office/drawing/2014/main" id="{0390BC79-6DDA-46DC-F115-208E212CC388}"/>
              </a:ext>
            </a:extLst>
          </p:cNvPr>
          <p:cNvSpPr>
            <a:spLocks noGrp="1" noChangeArrowheads="1"/>
          </p:cNvSpPr>
          <p:nvPr>
            <p:ph type="title"/>
          </p:nvPr>
        </p:nvSpPr>
        <p:spPr bwMode="auto">
          <a:xfrm>
            <a:off x="103673" y="1923919"/>
            <a:ext cx="12088327" cy="4330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A Real-Time Leaderboard System is used to display rankings of users based on their performance or scores instantly. </a:t>
            </a:r>
            <a:br>
              <a:rPr lang="en-US" sz="1800" dirty="0"/>
            </a:br>
            <a:br>
              <a:rPr lang="en-US" sz="1800" dirty="0"/>
            </a:br>
            <a:r>
              <a:rPr lang="en-US" sz="1800" dirty="0"/>
              <a:t>It is commonly used in gaming, coding platforms, sports analytics, and online competitions. </a:t>
            </a:r>
            <a:br>
              <a:rPr lang="en-US" sz="1800" dirty="0"/>
            </a:br>
            <a:br>
              <a:rPr lang="en-US" sz="1800" dirty="0"/>
            </a:br>
            <a:r>
              <a:rPr lang="en-US" sz="1800" dirty="0"/>
              <a:t>The system updates rankings dynamically whenever a user’s score changes. </a:t>
            </a:r>
            <a:br>
              <a:rPr lang="en-US" sz="1800" dirty="0"/>
            </a:br>
            <a:br>
              <a:rPr lang="en-US" sz="1800" dirty="0"/>
            </a:br>
            <a:r>
              <a:rPr lang="en-US" sz="1800" dirty="0"/>
              <a:t>It ensures fast and efficient data processing to handle frequent updates. </a:t>
            </a:r>
            <a:br>
              <a:rPr lang="en-US" sz="1800" dirty="0"/>
            </a:br>
            <a:br>
              <a:rPr lang="en-US" sz="1800" dirty="0"/>
            </a:br>
            <a:r>
              <a:rPr lang="en-US" sz="1800" dirty="0"/>
              <a:t>Advanced data structures like heaps are used to quickly identify top performers. </a:t>
            </a:r>
            <a:br>
              <a:rPr lang="en-US" sz="1800" dirty="0"/>
            </a:br>
            <a:br>
              <a:rPr lang="en-US" sz="1800" dirty="0"/>
            </a:br>
            <a:r>
              <a:rPr lang="en-US" sz="1800" dirty="0"/>
              <a:t>Hashing techniques help in storing and accessing user data efficiently. </a:t>
            </a:r>
            <a:br>
              <a:rPr lang="en-US" sz="1800" dirty="0"/>
            </a:br>
            <a:br>
              <a:rPr lang="en-US" sz="1800" dirty="0"/>
            </a:br>
            <a:r>
              <a:rPr lang="en-US" sz="1800" dirty="0"/>
              <a:t>It improves user engagement by providing instant feedback on performance. </a:t>
            </a:r>
            <a:br>
              <a:rPr lang="en-US" sz="1800" dirty="0"/>
            </a:br>
            <a:br>
              <a:rPr lang="en-US" sz="1800" dirty="0"/>
            </a:br>
            <a:r>
              <a:rPr lang="en-US" sz="1800" dirty="0"/>
              <a:t>The main goal is to maintain accurate, up-to-date rankings in real time with high efficiency. </a:t>
            </a:r>
            <a:br>
              <a:rPr lang="en-US" sz="1800" dirty="0"/>
            </a:b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F0EFB1-146F-D37D-E575-96007CD6A52F}"/>
              </a:ext>
            </a:extLst>
          </p:cNvPr>
          <p:cNvSpPr txBox="1"/>
          <p:nvPr/>
        </p:nvSpPr>
        <p:spPr>
          <a:xfrm>
            <a:off x="335902" y="1199993"/>
            <a:ext cx="3144415" cy="523220"/>
          </a:xfrm>
          <a:prstGeom prst="rect">
            <a:avLst/>
          </a:prstGeom>
          <a:noFill/>
        </p:spPr>
        <p:txBody>
          <a:bodyPr wrap="square" rtlCol="0">
            <a:spAutoFit/>
          </a:bodyPr>
          <a:lstStyle/>
          <a:p>
            <a:r>
              <a:rPr lang="en-US" sz="2800" b="1" dirty="0">
                <a:solidFill>
                  <a:schemeClr val="bg1">
                    <a:lumMod val="85000"/>
                  </a:schemeClr>
                </a:solidFill>
                <a:latin typeface="Times New Roman" panose="02020603050405020304" pitchFamily="18" charset="0"/>
                <a:cs typeface="Times New Roman" panose="02020603050405020304" pitchFamily="18" charset="0"/>
              </a:rPr>
              <a:t>INTRODUCTION</a:t>
            </a:r>
            <a:endParaRPr lang="en-IN" sz="2800" b="1" dirty="0">
              <a:solidFill>
                <a:schemeClr val="bg1">
                  <a:lumMod val="8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8" name="TextBox 7">
            <a:extLst>
              <a:ext uri="{FF2B5EF4-FFF2-40B4-BE49-F238E27FC236}">
                <a16:creationId xmlns:a16="http://schemas.microsoft.com/office/drawing/2014/main" id="{5A082279-97A4-4A9A-059A-5837FBFCA943}"/>
              </a:ext>
            </a:extLst>
          </p:cNvPr>
          <p:cNvSpPr txBox="1"/>
          <p:nvPr/>
        </p:nvSpPr>
        <p:spPr>
          <a:xfrm>
            <a:off x="419876" y="1059024"/>
            <a:ext cx="2528597" cy="523220"/>
          </a:xfrm>
          <a:prstGeom prst="rect">
            <a:avLst/>
          </a:prstGeom>
          <a:noFill/>
        </p:spPr>
        <p:txBody>
          <a:bodyPr wrap="square" rtlCol="0">
            <a:spAutoFit/>
          </a:bodyPr>
          <a:lstStyle/>
          <a:p>
            <a:r>
              <a:rPr lang="en-US" sz="2800" b="1" dirty="0">
                <a:solidFill>
                  <a:schemeClr val="bg1">
                    <a:lumMod val="85000"/>
                  </a:schemeClr>
                </a:solidFill>
                <a:latin typeface="Times New Roman" panose="02020603050405020304" pitchFamily="18" charset="0"/>
                <a:cs typeface="Times New Roman" panose="02020603050405020304" pitchFamily="18" charset="0"/>
              </a:rPr>
              <a:t>OBJECTIVES</a:t>
            </a:r>
            <a:endParaRPr lang="en-IN" sz="2800"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70D57AA-E7B5-5CA6-05F2-E53591CF5924}"/>
              </a:ext>
            </a:extLst>
          </p:cNvPr>
          <p:cNvSpPr>
            <a:spLocks noGrp="1" noChangeArrowheads="1"/>
          </p:cNvSpPr>
          <p:nvPr>
            <p:ph type="title"/>
          </p:nvPr>
        </p:nvSpPr>
        <p:spPr bwMode="auto">
          <a:xfrm>
            <a:off x="186547" y="1720743"/>
            <a:ext cx="9700091"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effectLst/>
                <a:latin typeface="Arial" panose="020B0604020202020204" pitchFamily="34" charset="0"/>
              </a:rPr>
              <a:t>A Real-Time Leaderboard System is used to display rankings of users based on</a:t>
            </a:r>
            <a:br>
              <a:rPr kumimoji="0" lang="en-US" altLang="en-US" sz="1800" b="0" i="0" u="none" strike="noStrike" cap="none" normalizeH="0" baseline="0" dirty="0">
                <a:ln>
                  <a:noFill/>
                </a:ln>
                <a:effectLst/>
                <a:latin typeface="Arial" panose="020B0604020202020204" pitchFamily="34" charset="0"/>
              </a:rPr>
            </a:br>
            <a:r>
              <a:rPr lang="en-US" altLang="en-US" sz="1800" b="0" dirty="0">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their performance or scores instantly. </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0" i="0" u="none" strike="noStrike" cap="none" normalizeH="0" baseline="0" dirty="0">
                <a:ln>
                  <a:noFill/>
                </a:ln>
                <a:effectLst/>
                <a:latin typeface="Arial" panose="020B0604020202020204" pitchFamily="34" charset="0"/>
              </a:rPr>
              <a:t>It is commonly used in gaming, coding platforms, sports analytics, and online competitions. </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b="0" i="0" u="none" strike="noStrike" cap="none" normalizeH="0" baseline="0" dirty="0">
                <a:ln>
                  <a:noFill/>
                </a:ln>
                <a:effectLst/>
                <a:latin typeface="Arial" panose="020B0604020202020204" pitchFamily="34" charset="0"/>
              </a:rPr>
              <a:t>The system updates rankings dynamically whenever a user’s score changes. </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0" i="0" u="none" strike="noStrike" cap="none" normalizeH="0" baseline="0" dirty="0">
                <a:ln>
                  <a:noFill/>
                </a:ln>
                <a:effectLst/>
                <a:latin typeface="Arial" panose="020B0604020202020204" pitchFamily="34" charset="0"/>
              </a:rPr>
              <a:t>It ensures fast and efficient data processing to handle frequent updates. </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1800" b="0" i="0" u="none" strike="noStrike" cap="none" normalizeH="0" baseline="0" dirty="0">
                <a:ln>
                  <a:noFill/>
                </a:ln>
                <a:effectLst/>
                <a:latin typeface="Arial" panose="020B0604020202020204" pitchFamily="34" charset="0"/>
              </a:rPr>
              <a:t>Advanced data structures like heaps are used to quickly identify top performers. </a:t>
            </a:r>
          </a:p>
          <a:p>
            <a:pPr marL="0" marR="0" lvl="0" indent="0" algn="l" defTabSz="914400" rtl="0" eaLnBrk="0" fontAlgn="base" latinLnBrk="0" hangingPunct="0">
              <a:lnSpc>
                <a:spcPct val="150000"/>
              </a:lnSpc>
              <a:spcBef>
                <a:spcPct val="0"/>
              </a:spcBef>
              <a:spcAft>
                <a:spcPct val="0"/>
              </a:spcAft>
              <a:buClrTx/>
              <a:buSzTx/>
              <a:buFontTx/>
              <a:buAutoNum type="arabicPeriod" startAt="6"/>
              <a:tabLst/>
            </a:pPr>
            <a:r>
              <a:rPr kumimoji="0" lang="en-US" altLang="en-US" sz="1800" b="0" i="0" u="none" strike="noStrike" cap="none" normalizeH="0" baseline="0" dirty="0">
                <a:ln>
                  <a:noFill/>
                </a:ln>
                <a:effectLst/>
                <a:latin typeface="Arial" panose="020B0604020202020204" pitchFamily="34" charset="0"/>
              </a:rPr>
              <a:t>Hashing techniques help in storing and accessing user data efficiently. </a:t>
            </a:r>
          </a:p>
          <a:p>
            <a:pPr marL="0" marR="0" lvl="0" indent="0" algn="l" defTabSz="914400" rtl="0" eaLnBrk="0" fontAlgn="base" latinLnBrk="0" hangingPunct="0">
              <a:lnSpc>
                <a:spcPct val="150000"/>
              </a:lnSpc>
              <a:spcBef>
                <a:spcPct val="0"/>
              </a:spcBef>
              <a:spcAft>
                <a:spcPct val="0"/>
              </a:spcAft>
              <a:buClrTx/>
              <a:buSzTx/>
              <a:buFontTx/>
              <a:buAutoNum type="arabicPeriod" startAt="7"/>
              <a:tabLst/>
            </a:pPr>
            <a:r>
              <a:rPr kumimoji="0" lang="en-US" altLang="en-US" sz="1800" b="0" i="0" u="none" strike="noStrike" cap="none" normalizeH="0" baseline="0" dirty="0">
                <a:ln>
                  <a:noFill/>
                </a:ln>
                <a:effectLst/>
                <a:latin typeface="Arial" panose="020B0604020202020204" pitchFamily="34" charset="0"/>
              </a:rPr>
              <a:t>It improves user engagement by providing instant feedback on performance. </a:t>
            </a:r>
          </a:p>
          <a:p>
            <a:pPr marL="0" marR="0" lvl="0" indent="0" algn="l" defTabSz="914400" rtl="0" eaLnBrk="0" fontAlgn="base" latinLnBrk="0" hangingPunct="0">
              <a:lnSpc>
                <a:spcPct val="150000"/>
              </a:lnSpc>
              <a:spcBef>
                <a:spcPct val="0"/>
              </a:spcBef>
              <a:spcAft>
                <a:spcPct val="0"/>
              </a:spcAft>
              <a:buClrTx/>
              <a:buSzTx/>
              <a:buFontTx/>
              <a:buAutoNum type="arabicPeriod" startAt="8"/>
              <a:tabLst/>
            </a:pPr>
            <a:r>
              <a:rPr kumimoji="0" lang="en-US" altLang="en-US" sz="1800" b="0" i="0" u="none" strike="noStrike" cap="none" normalizeH="0" baseline="0" dirty="0">
                <a:ln>
                  <a:noFill/>
                </a:ln>
                <a:effectLst/>
                <a:latin typeface="Arial" panose="020B0604020202020204" pitchFamily="34" charset="0"/>
              </a:rPr>
              <a:t>The main goal is to maintain accurate, up-to-date rankings in real time with high efficiency.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F10BB-B1C0-9E6C-4194-DABDBC1CCE14}"/>
              </a:ext>
            </a:extLst>
          </p:cNvPr>
          <p:cNvSpPr>
            <a:spLocks noGrp="1"/>
          </p:cNvSpPr>
          <p:nvPr>
            <p:ph type="title"/>
          </p:nvPr>
        </p:nvSpPr>
        <p:spPr>
          <a:xfrm>
            <a:off x="323850" y="1395947"/>
            <a:ext cx="5330501" cy="480131"/>
          </a:xfrm>
        </p:spPr>
        <p:txBody>
          <a:bodyPr/>
          <a:lstStyle/>
          <a:p>
            <a:r>
              <a:rPr lang="en-US" sz="2800" dirty="0">
                <a:solidFill>
                  <a:schemeClr val="bg1">
                    <a:lumMod val="75000"/>
                  </a:schemeClr>
                </a:solidFill>
                <a:latin typeface="Times New Roman" panose="02020603050405020304" pitchFamily="18" charset="0"/>
                <a:cs typeface="Times New Roman" panose="02020603050405020304" pitchFamily="18" charset="0"/>
              </a:rPr>
              <a:t>WORKING OF THE PROJECT</a:t>
            </a:r>
            <a:endParaRPr lang="en-IN" sz="28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DB02B33-A870-5F8C-6DF1-38D672C2BBAB}"/>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9" name="Rectangle 2">
            <a:extLst>
              <a:ext uri="{FF2B5EF4-FFF2-40B4-BE49-F238E27FC236}">
                <a16:creationId xmlns:a16="http://schemas.microsoft.com/office/drawing/2014/main" id="{93F0CA6A-2DDB-B7B5-B5DF-13714EA00987}"/>
              </a:ext>
            </a:extLst>
          </p:cNvPr>
          <p:cNvSpPr>
            <a:spLocks noGrp="1" noChangeArrowheads="1"/>
          </p:cNvSpPr>
          <p:nvPr>
            <p:ph sz="half" idx="2"/>
          </p:nvPr>
        </p:nvSpPr>
        <p:spPr bwMode="auto">
          <a:xfrm>
            <a:off x="323850" y="2037904"/>
            <a:ext cx="6123603" cy="464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system accepts user names and their scores as input. </a:t>
            </a:r>
          </a:p>
          <a:p>
            <a:r>
              <a:rPr lang="en-US" sz="2000" dirty="0"/>
              <a:t>Scores are stored and updated using a hashing technique for quick access. </a:t>
            </a:r>
          </a:p>
          <a:p>
            <a:r>
              <a:rPr lang="en-US" sz="2000" dirty="0"/>
              <a:t>Whenever a new score is added, the system updates the existing score if the user already exists. </a:t>
            </a:r>
          </a:p>
          <a:p>
            <a:r>
              <a:rPr lang="en-US" sz="2000" dirty="0"/>
              <a:t>A heap data structure is used to efficiently sort and maintain the top-ranked users. </a:t>
            </a:r>
          </a:p>
          <a:p>
            <a:r>
              <a:rPr lang="en-US" sz="2000" dirty="0"/>
              <a:t>The leaderboard is dynamically updated and displayed after every score change. </a:t>
            </a:r>
          </a:p>
          <a:p>
            <a:r>
              <a:rPr lang="en-US" sz="2000" dirty="0"/>
              <a:t>Users can view real-time rankings, ensuring accurate and instant performance tracking.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305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682884"/>
            <a:ext cx="11214100" cy="480131"/>
          </a:xfrm>
        </p:spPr>
        <p:txBody>
          <a:bodyPr/>
          <a:lstStyle/>
          <a:p>
            <a:r>
              <a:rPr lang="en-US" sz="2800" dirty="0">
                <a:latin typeface="Times New Roman" panose="02020603050405020304" pitchFamily="18" charset="0"/>
                <a:cs typeface="Times New Roman" panose="02020603050405020304" pitchFamily="18" charset="0"/>
              </a:rPr>
              <a:t>CODE</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4" name="Picture 3">
            <a:extLst>
              <a:ext uri="{FF2B5EF4-FFF2-40B4-BE49-F238E27FC236}">
                <a16:creationId xmlns:a16="http://schemas.microsoft.com/office/drawing/2014/main" id="{4ED683ED-B57B-70AE-8AD7-BBB7442F7ABC}"/>
              </a:ext>
            </a:extLst>
          </p:cNvPr>
          <p:cNvPicPr>
            <a:picLocks noChangeAspect="1"/>
          </p:cNvPicPr>
          <p:nvPr/>
        </p:nvPicPr>
        <p:blipFill>
          <a:blip r:embed="rId2"/>
          <a:stretch>
            <a:fillRect/>
          </a:stretch>
        </p:blipFill>
        <p:spPr>
          <a:xfrm>
            <a:off x="183243" y="1196453"/>
            <a:ext cx="5742878" cy="5558910"/>
          </a:xfrm>
          <a:prstGeom prst="rect">
            <a:avLst/>
          </a:prstGeom>
        </p:spPr>
      </p:pic>
      <p:pic>
        <p:nvPicPr>
          <p:cNvPr id="8" name="Picture 7">
            <a:extLst>
              <a:ext uri="{FF2B5EF4-FFF2-40B4-BE49-F238E27FC236}">
                <a16:creationId xmlns:a16="http://schemas.microsoft.com/office/drawing/2014/main" id="{B88AB658-C495-387D-6F84-B7EAD99CE7E3}"/>
              </a:ext>
            </a:extLst>
          </p:cNvPr>
          <p:cNvPicPr>
            <a:picLocks noChangeAspect="1"/>
          </p:cNvPicPr>
          <p:nvPr/>
        </p:nvPicPr>
        <p:blipFill>
          <a:blip r:embed="rId3"/>
          <a:stretch>
            <a:fillRect/>
          </a:stretch>
        </p:blipFill>
        <p:spPr>
          <a:xfrm>
            <a:off x="6096000" y="1201118"/>
            <a:ext cx="5835638" cy="5558911"/>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789076"/>
            <a:ext cx="11214100" cy="480131"/>
          </a:xfrm>
        </p:spPr>
        <p:txBody>
          <a:bodyPr/>
          <a:lstStyle/>
          <a:p>
            <a:r>
              <a:rPr lang="en-US" sz="2800" dirty="0">
                <a:latin typeface="Times New Roman" panose="02020603050405020304" pitchFamily="18" charset="0"/>
                <a:cs typeface="Times New Roman" panose="02020603050405020304" pitchFamily="18" charset="0"/>
              </a:rPr>
              <a:t>OUTPUT</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6" name="Picture 5">
            <a:extLst>
              <a:ext uri="{FF2B5EF4-FFF2-40B4-BE49-F238E27FC236}">
                <a16:creationId xmlns:a16="http://schemas.microsoft.com/office/drawing/2014/main" id="{226B9B64-6035-862F-7BA4-046F552D180C}"/>
              </a:ext>
            </a:extLst>
          </p:cNvPr>
          <p:cNvPicPr>
            <a:picLocks noChangeAspect="1"/>
          </p:cNvPicPr>
          <p:nvPr/>
        </p:nvPicPr>
        <p:blipFill>
          <a:blip r:embed="rId2"/>
          <a:stretch>
            <a:fillRect/>
          </a:stretch>
        </p:blipFill>
        <p:spPr>
          <a:xfrm>
            <a:off x="121297" y="1604283"/>
            <a:ext cx="5511284" cy="4544590"/>
          </a:xfrm>
          <a:prstGeom prst="rect">
            <a:avLst/>
          </a:prstGeom>
        </p:spPr>
      </p:pic>
      <p:pic>
        <p:nvPicPr>
          <p:cNvPr id="8" name="Picture 7">
            <a:extLst>
              <a:ext uri="{FF2B5EF4-FFF2-40B4-BE49-F238E27FC236}">
                <a16:creationId xmlns:a16="http://schemas.microsoft.com/office/drawing/2014/main" id="{0A8B63AC-8D1E-B339-F831-2C6D25CF48FA}"/>
              </a:ext>
            </a:extLst>
          </p:cNvPr>
          <p:cNvPicPr>
            <a:picLocks noChangeAspect="1"/>
          </p:cNvPicPr>
          <p:nvPr/>
        </p:nvPicPr>
        <p:blipFill>
          <a:blip r:embed="rId3"/>
          <a:stretch>
            <a:fillRect/>
          </a:stretch>
        </p:blipFill>
        <p:spPr>
          <a:xfrm>
            <a:off x="5868955" y="1604283"/>
            <a:ext cx="6201748" cy="4544590"/>
          </a:xfrm>
          <a:prstGeom prst="rect">
            <a:avLst/>
          </a:prstGeo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EF0D-4925-606F-D8D9-FEEE3504839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Slide Number Placeholder 2">
            <a:extLst>
              <a:ext uri="{FF2B5EF4-FFF2-40B4-BE49-F238E27FC236}">
                <a16:creationId xmlns:a16="http://schemas.microsoft.com/office/drawing/2014/main" id="{EA5F08E9-28C1-7D90-D6BA-0F4E53B37AEF}"/>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6" name="Content Placeholder 5">
            <a:extLst>
              <a:ext uri="{FF2B5EF4-FFF2-40B4-BE49-F238E27FC236}">
                <a16:creationId xmlns:a16="http://schemas.microsoft.com/office/drawing/2014/main" id="{22F7A0F8-12F3-A988-C5E8-03FBAC63170A}"/>
              </a:ext>
            </a:extLst>
          </p:cNvPr>
          <p:cNvSpPr>
            <a:spLocks noGrp="1"/>
          </p:cNvSpPr>
          <p:nvPr>
            <p:ph sz="half" idx="2"/>
          </p:nvPr>
        </p:nvSpPr>
        <p:spPr>
          <a:xfrm>
            <a:off x="117929" y="1758626"/>
            <a:ext cx="9352643" cy="2225545"/>
          </a:xfrm>
        </p:spPr>
        <p:txBody>
          <a:bodyPr/>
          <a:lstStyle/>
          <a:p>
            <a:pPr algn="just"/>
            <a:r>
              <a:rPr lang="en-US" dirty="0">
                <a:latin typeface="Times New Roman" panose="02020603050405020304" pitchFamily="18" charset="0"/>
                <a:cs typeface="Times New Roman" panose="02020603050405020304" pitchFamily="18" charset="0"/>
              </a:rPr>
              <a:t>The Real-Time Leaderboard System provides an efficient and dynamic way to manage and display user rankings based on continuously changing scores. By using advanced data structures like heaps and hashing, the system ensures fast updates, quick data access, and accurate ranking in real time. It enhances user engagement by offering instant feedback on performance and maintaining transparency in rankings. Overall, this project demonstrates how optimized algorithms and data structures can be effectively applied to solve real-world problems requiring speed, scalability, and reliability.</a:t>
            </a:r>
          </a:p>
          <a:p>
            <a:endParaRPr lang="en-US" dirty="0"/>
          </a:p>
        </p:txBody>
      </p:sp>
    </p:spTree>
    <p:extLst>
      <p:ext uri="{BB962C8B-B14F-4D97-AF65-F5344CB8AC3E}">
        <p14:creationId xmlns:p14="http://schemas.microsoft.com/office/powerpoint/2010/main" val="8966794"/>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89</TotalTime>
  <Words>447</Words>
  <Application>Microsoft Office PowerPoint</Application>
  <PresentationFormat>Widescreen</PresentationFormat>
  <Paragraphs>31</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Times New Roman</vt:lpstr>
      <vt:lpstr>Trade Gothic LT Pro</vt:lpstr>
      <vt:lpstr>Trebuchet MS</vt:lpstr>
      <vt:lpstr>Wingdings</vt:lpstr>
      <vt:lpstr>Office Theme</vt:lpstr>
      <vt:lpstr>Real time Leaderboard System </vt:lpstr>
      <vt:lpstr>A Real-Time Leaderboard System is used to display rankings of users based on their performance or scores instantly.   It is commonly used in gaming, coding platforms, sports analytics, and online competitions.   The system updates rankings dynamically whenever a user’s score changes.   It ensures fast and efficient data processing to handle frequent updates.   Advanced data structures like heaps are used to quickly identify top performers.   Hashing techniques help in storing and accessing user data efficiently.   It improves user engagement by providing instant feedback on performance.   The main goal is to maintain accurate, up-to-date rankings in real time with high efficiency.  </vt:lpstr>
      <vt:lpstr> A Real-Time Leaderboard System is used to display rankings of users based on    their performance or scores instantly.  It is commonly used in gaming, coding platforms, sports analytics, and online competitions.  The system updates rankings dynamically whenever a user’s score changes.  It ensures fast and efficient data processing to handle frequent updates.  Advanced data structures like heaps are used to quickly identify top performers.  Hashing techniques help in storing and accessing user data efficiently.  It improves user engagement by providing instant feedback on performance.  The main goal is to maintain accurate, up-to-date rankings in real time with high efficiency.  </vt:lpstr>
      <vt:lpstr>WORKING OF THE PROJECT</vt:lpstr>
      <vt:lpstr>CODE</vt:lpstr>
      <vt:lpstr>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Debjit Talukdar</dc:creator>
  <cp:lastModifiedBy>Muneebur Rahman</cp:lastModifiedBy>
  <cp:revision>3</cp:revision>
  <dcterms:created xsi:type="dcterms:W3CDTF">2026-03-06T14:56:07Z</dcterms:created>
  <dcterms:modified xsi:type="dcterms:W3CDTF">2026-04-02T10:02:17Z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